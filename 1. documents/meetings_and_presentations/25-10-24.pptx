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cc2586831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0cc2586831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0cc2586831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0cc258683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cc2586831_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0cc258683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cc2586831_0_1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0cc258683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cc2586831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0cc258683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cc70d8b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cc70d8b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d9ca7ae8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d9ca7ae8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cc2586831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0cc2586831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dce85f9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0dce85f9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dce85f911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0dce85f911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dce85f9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dce85f9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dce85f911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dce85f911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cc70d8bc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0cc70d8bc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d6eb1d6d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d6eb1d6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d6eb1d6d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d6eb1d6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d6eb1d6d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0d6eb1d6d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Inflammation plays a crucial role in the pathogenesis of prediabetes and its progression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T2DM in the larger systemic context. Systemic inflammation in prediabetes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characterised by elevated levels of inflammatory markers and alterations in immune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 (Weaver et al., 2021) Inflammation during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prediabetic state seems to be a driving force behind pancreatic beta cell dysfunction,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insulin resistance, dyslipidemia, and cardiovascular diseases and is a risk factor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peripheral vascular diseases (Saghir et al., 2023) Initiation of inflammation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prediabetic subject is not fully understood, although research is suggesting that it may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begin in the intestines. In the context of intestinal inflammation in prediabetes, recent hypotheses are focussed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relationship between diet, gut microbiota, and intestinal barrier function. One prevalent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hypothesis suggests that high-fat diet intake leads to alterations in intestinal microbiota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composition. These alterations are thought to increase paracellular permeability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absorption of lipopolysaccharide (LPS), dietary antigens, and translocation of bacteria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leading to metabolic endotoxemia and low-grade chronic systemic inflammation, which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may trigger or exacerbate peripheral insulin resistance (Geurts et al., 2014; Gomes et al.,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2017; Nascimento et al., 2021).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d6eb1d6d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0d6eb1d6d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dce85f91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dce85f91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d9ca7ae8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0d9ca7ae8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Inflammation plays a crucial role in the pathogenesis of prediabetes and its progression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T2DM in the larger systemic context. Systemic inflammation in prediabetes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characterised by elevated levels of inflammatory markers and alterations in immune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 (Weaver et al., 2021) Inflammation during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prediabetic state seems to be a driving force behind pancreatic beta cell dysfunction,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insulin resistance, dyslipidemia, and cardiovascular diseases and is a risk factor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peripheral vascular diseases (Saghir et al., 2023) Initiation of inflammation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prediabetic subject is not fully understood, although research is suggesting that it may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begin in the intestines. In the context of intestinal inflammation in prediabetes, recent hypotheses are focussed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relationship between diet, gut microbiota, and intestinal barrier function. One prevalent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hypothesis suggests that high-fat diet intake leads to alterations in intestinal microbiota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composition. These alterations are thought to increase paracellular permeability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absorption of lipopolysaccharide (LPS), dietary antigens, and translocation of bacteria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leading to metabolic endotoxemia and low-grade chronic systemic inflammation, which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may trigger or exacerbate peripheral insulin resistance (Geurts et al., 2014; Gomes et al.,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2017; Nascimento et al., 2021).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0d6eb1d6d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0d6eb1d6d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0d6eb1d6d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0d6eb1d6d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e3f80249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0e3f80249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CC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jp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/>
        </p:nvSpPr>
        <p:spPr>
          <a:xfrm>
            <a:off x="259050" y="1415350"/>
            <a:ext cx="48357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200">
                <a:latin typeface="Raleway"/>
                <a:ea typeface="Raleway"/>
                <a:cs typeface="Raleway"/>
                <a:sym typeface="Raleway"/>
              </a:rPr>
              <a:t>Glenn Ross-Dolan	</a:t>
            </a:r>
            <a:endParaRPr b="1" sz="4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6875" y="2087775"/>
            <a:ext cx="8183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999999"/>
                </a:solidFill>
              </a:rPr>
              <a:t>M.Sc. Bioinformatics and Computational Biology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59050" y="3046700"/>
            <a:ext cx="86259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GB" sz="2200">
                <a:solidFill>
                  <a:srgbClr val="FFFFFF"/>
                </a:solidFill>
              </a:rPr>
              <a:t>Single-cell transcriptomics of intestinal epithelial cells: Insights into the prediabetic condition</a:t>
            </a:r>
            <a:r>
              <a:rPr b="0" i="0" lang="en-GB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59050" y="4237800"/>
            <a:ext cx="86259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Supervised By: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Silvia Melgar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versity College Cork, APC Microbiome - accelopment"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3916" y="279775"/>
            <a:ext cx="2988359" cy="172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025" y="133000"/>
            <a:ext cx="1961150" cy="9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-162575" y="334200"/>
            <a:ext cx="49869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Prediabetes &amp; T2DM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57150"/>
            <a:ext cx="8520600" cy="37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>
                <a:solidFill>
                  <a:srgbClr val="666666"/>
                </a:solidFill>
              </a:rPr>
              <a:t>G</a:t>
            </a:r>
            <a:r>
              <a:rPr lang="en-GB">
                <a:solidFill>
                  <a:srgbClr val="666666"/>
                </a:solidFill>
              </a:rPr>
              <a:t>lobal health crisis, T2DM prevalence x4 in last 30 years.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 u="sng">
                <a:solidFill>
                  <a:srgbClr val="666666"/>
                </a:solidFill>
              </a:rPr>
              <a:t>Characterised by</a:t>
            </a:r>
            <a:r>
              <a:rPr lang="en-GB">
                <a:solidFill>
                  <a:srgbClr val="666666"/>
                </a:solidFill>
              </a:rPr>
              <a:t>: insulin resistance, inadequate insulin secretion, leads to hyperglycaemia.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>
                <a:solidFill>
                  <a:srgbClr val="666666"/>
                </a:solidFill>
              </a:rPr>
              <a:t>Usually </a:t>
            </a:r>
            <a:r>
              <a:rPr lang="en-GB" u="sng">
                <a:solidFill>
                  <a:srgbClr val="666666"/>
                </a:solidFill>
              </a:rPr>
              <a:t>preceded</a:t>
            </a:r>
            <a:r>
              <a:rPr lang="en-GB" u="sng">
                <a:solidFill>
                  <a:srgbClr val="666666"/>
                </a:solidFill>
              </a:rPr>
              <a:t> by prediabetes</a:t>
            </a:r>
            <a:r>
              <a:rPr lang="en-GB">
                <a:solidFill>
                  <a:srgbClr val="666666"/>
                </a:solidFill>
              </a:rPr>
              <a:t>. (Impaired fasting glucose, Impaired glucose tolerance, raised HbA1c levels).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 u="sng">
                <a:solidFill>
                  <a:srgbClr val="666666"/>
                </a:solidFill>
              </a:rPr>
              <a:t>Associated with:</a:t>
            </a:r>
            <a:r>
              <a:rPr lang="en-GB">
                <a:solidFill>
                  <a:srgbClr val="666666"/>
                </a:solidFill>
              </a:rPr>
              <a:t> obesity, diet, sedentary lifestyle, genetic factors. 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66666"/>
              </a:buClr>
              <a:buSzPts val="1800"/>
              <a:buChar char="●"/>
            </a:pPr>
            <a:r>
              <a:rPr lang="en-GB">
                <a:solidFill>
                  <a:srgbClr val="666666"/>
                </a:solidFill>
              </a:rPr>
              <a:t>Systemic effects of T2DM and prediabetes are well documented, although emerging evidence is highlighting the role of the </a:t>
            </a:r>
            <a:r>
              <a:rPr lang="en-GB" u="sng">
                <a:solidFill>
                  <a:srgbClr val="666666"/>
                </a:solidFill>
              </a:rPr>
              <a:t>intestinal epithelium</a:t>
            </a:r>
            <a:r>
              <a:rPr lang="en-GB">
                <a:solidFill>
                  <a:srgbClr val="666666"/>
                </a:solidFill>
              </a:rPr>
              <a:t> in the development of prediabetes.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13741" l="13018" r="12929" t="9358"/>
          <a:stretch/>
        </p:blipFill>
        <p:spPr>
          <a:xfrm>
            <a:off x="6600500" y="125550"/>
            <a:ext cx="2017500" cy="139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105975" y="86900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Project Aim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220100" y="710300"/>
            <a:ext cx="35199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>
                <a:solidFill>
                  <a:srgbClr val="434343"/>
                </a:solidFill>
              </a:rPr>
              <a:t>Find altered genes/pathways in the individual intestinal cell types which are characteristic of the prediabetic subject.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220100" y="2871800"/>
            <a:ext cx="3651600" cy="19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000">
                <a:solidFill>
                  <a:srgbClr val="000000"/>
                </a:solidFill>
              </a:rPr>
              <a:t>Why?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-GB" sz="18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Complement of another study</a:t>
            </a:r>
            <a:endParaRPr b="0" sz="18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-GB" sz="18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Allows for the selection of biological targets for further study of seaweed extract.</a:t>
            </a:r>
            <a:endParaRPr sz="2000">
              <a:solidFill>
                <a:srgbClr val="434343"/>
              </a:solidFill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3917400" y="630300"/>
            <a:ext cx="5143488" cy="3448175"/>
            <a:chOff x="3818375" y="295000"/>
            <a:chExt cx="5143488" cy="3448175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3818375" y="702863"/>
              <a:ext cx="5044500" cy="3040312"/>
              <a:chOff x="3704050" y="1177288"/>
              <a:chExt cx="5044500" cy="3040312"/>
            </a:xfrm>
          </p:grpSpPr>
          <p:pic>
            <p:nvPicPr>
              <p:cNvPr id="80" name="Google Shape;80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772625" y="1177288"/>
                <a:ext cx="4975850" cy="278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85738" rotWithShape="0" algn="bl" dir="2100000" dist="19050">
                  <a:srgbClr val="000000">
                    <a:alpha val="49800"/>
                  </a:srgbClr>
                </a:outerShdw>
              </a:effectLst>
            </p:spPr>
          </p:pic>
          <p:sp>
            <p:nvSpPr>
              <p:cNvPr id="81" name="Google Shape;81;p15"/>
              <p:cNvSpPr txBox="1"/>
              <p:nvPr/>
            </p:nvSpPr>
            <p:spPr>
              <a:xfrm>
                <a:off x="3704050" y="3966200"/>
                <a:ext cx="5044500" cy="2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GB" sz="1000" u="none" cap="none" strike="noStrike">
                    <a:solidFill>
                      <a:srgbClr val="434343"/>
                    </a:solidFill>
                    <a:latin typeface="Arial"/>
                    <a:ea typeface="Arial"/>
                    <a:cs typeface="Arial"/>
                    <a:sym typeface="Arial"/>
                  </a:rPr>
                  <a:t>Image adapted from: https://www.nature.com/articles/s41467-020-20052-z/figures/1</a:t>
                </a:r>
                <a:endParaRPr b="0" i="0" sz="10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" name="Google Shape;82;p15"/>
            <p:cNvSpPr txBox="1"/>
            <p:nvPr/>
          </p:nvSpPr>
          <p:spPr>
            <a:xfrm>
              <a:off x="6729263" y="295000"/>
              <a:ext cx="2232600" cy="4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Intestinal Epithelium</a:t>
              </a:r>
              <a:endParaRPr b="0" i="0" sz="1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2870300" y="80125"/>
            <a:ext cx="6191400" cy="49809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683300" y="1702050"/>
            <a:ext cx="17070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How?</a:t>
            </a:r>
            <a:endParaRPr/>
          </a:p>
        </p:txBody>
      </p:sp>
      <p:sp>
        <p:nvSpPr>
          <p:cNvPr id="89" name="Google Shape;89;p16"/>
          <p:cNvSpPr txBox="1"/>
          <p:nvPr>
            <p:ph idx="2" type="body"/>
          </p:nvPr>
        </p:nvSpPr>
        <p:spPr>
          <a:xfrm>
            <a:off x="3169725" y="817800"/>
            <a:ext cx="55182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Choose suitable data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Review literature for best analysis practices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Build an analysis pipeline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Carry out the analysis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Review the findings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Form a biological hypothesis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Build onto the current literature</a:t>
            </a:r>
            <a:endParaRPr sz="2100"/>
          </a:p>
        </p:txBody>
      </p:sp>
      <p:cxnSp>
        <p:nvCxnSpPr>
          <p:cNvPr id="90" name="Google Shape;90;p16"/>
          <p:cNvCxnSpPr/>
          <p:nvPr/>
        </p:nvCxnSpPr>
        <p:spPr>
          <a:xfrm>
            <a:off x="3353925" y="4496150"/>
            <a:ext cx="46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202350" y="208725"/>
            <a:ext cx="47373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3000"/>
              <a:t>Experimental</a:t>
            </a:r>
            <a:r>
              <a:rPr lang="en-GB"/>
              <a:t> </a:t>
            </a:r>
            <a:r>
              <a:rPr lang="en-GB" sz="3000"/>
              <a:t>Model</a:t>
            </a:r>
            <a:r>
              <a:rPr lang="en-GB"/>
              <a:t> 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1443750" y="1259963"/>
            <a:ext cx="62565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-GB" sz="1600">
                <a:solidFill>
                  <a:srgbClr val="434343"/>
                </a:solidFill>
              </a:rPr>
              <a:t>Mice assigned to one of two diets for 12 weeks, until 24 weeks old. 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-GB" sz="1600">
                <a:solidFill>
                  <a:srgbClr val="434343"/>
                </a:solidFill>
              </a:rPr>
              <a:t>Prediabetic status evaluated.</a:t>
            </a:r>
            <a:endParaRPr sz="1600">
              <a:solidFill>
                <a:srgbClr val="43434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-GB" sz="1600">
                <a:solidFill>
                  <a:srgbClr val="434343"/>
                </a:solidFill>
              </a:rPr>
              <a:t>Intestinal tissue taken and sequenced at the single cell resolution.</a:t>
            </a:r>
            <a:endParaRPr sz="1600">
              <a:solidFill>
                <a:srgbClr val="434343"/>
              </a:solidFill>
            </a:endParaRPr>
          </a:p>
        </p:txBody>
      </p:sp>
      <p:grpSp>
        <p:nvGrpSpPr>
          <p:cNvPr id="97" name="Google Shape;97;p17"/>
          <p:cNvGrpSpPr/>
          <p:nvPr/>
        </p:nvGrpSpPr>
        <p:grpSpPr>
          <a:xfrm>
            <a:off x="1024713" y="2335163"/>
            <a:ext cx="7094575" cy="2653162"/>
            <a:chOff x="910413" y="2316138"/>
            <a:chExt cx="7094575" cy="2653162"/>
          </a:xfrm>
        </p:grpSpPr>
        <p:sp>
          <p:nvSpPr>
            <p:cNvPr id="98" name="Google Shape;98;p17"/>
            <p:cNvSpPr txBox="1"/>
            <p:nvPr/>
          </p:nvSpPr>
          <p:spPr>
            <a:xfrm>
              <a:off x="4825350" y="2552725"/>
              <a:ext cx="1571700" cy="4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Control Diet</a:t>
              </a:r>
              <a:endPara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4193750" y="3885513"/>
              <a:ext cx="2753700" cy="48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rPr>
                <a:t>High Fat/High Sugar Diet</a:t>
              </a:r>
              <a:endPara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" name="Google Shape;100;p17"/>
            <p:cNvCxnSpPr/>
            <p:nvPr/>
          </p:nvCxnSpPr>
          <p:spPr>
            <a:xfrm>
              <a:off x="4233875" y="2916550"/>
              <a:ext cx="0" cy="69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17"/>
            <p:cNvCxnSpPr/>
            <p:nvPr/>
          </p:nvCxnSpPr>
          <p:spPr>
            <a:xfrm>
              <a:off x="4233875" y="3604675"/>
              <a:ext cx="0" cy="69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2" name="Google Shape;102;p17"/>
            <p:cNvGrpSpPr/>
            <p:nvPr/>
          </p:nvGrpSpPr>
          <p:grpSpPr>
            <a:xfrm>
              <a:off x="910413" y="2316138"/>
              <a:ext cx="7094575" cy="2653162"/>
              <a:chOff x="910413" y="2316138"/>
              <a:chExt cx="7094575" cy="2653162"/>
            </a:xfrm>
          </p:grpSpPr>
          <p:grpSp>
            <p:nvGrpSpPr>
              <p:cNvPr id="103" name="Google Shape;103;p17"/>
              <p:cNvGrpSpPr/>
              <p:nvPr/>
            </p:nvGrpSpPr>
            <p:grpSpPr>
              <a:xfrm>
                <a:off x="910413" y="2316138"/>
                <a:ext cx="7094575" cy="2572625"/>
                <a:chOff x="1078875" y="2338988"/>
                <a:chExt cx="7094575" cy="2572625"/>
              </a:xfrm>
            </p:grpSpPr>
            <p:grpSp>
              <p:nvGrpSpPr>
                <p:cNvPr id="104" name="Google Shape;104;p17"/>
                <p:cNvGrpSpPr/>
                <p:nvPr/>
              </p:nvGrpSpPr>
              <p:grpSpPr>
                <a:xfrm>
                  <a:off x="1078875" y="2338988"/>
                  <a:ext cx="7094575" cy="2572625"/>
                  <a:chOff x="879925" y="2630525"/>
                  <a:chExt cx="7094575" cy="2572625"/>
                </a:xfrm>
              </p:grpSpPr>
              <p:pic>
                <p:nvPicPr>
                  <p:cNvPr id="105" name="Google Shape;105;p1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879925" y="3349488"/>
                    <a:ext cx="692125" cy="1134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06" name="Google Shape;106;p1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6821550" y="2630525"/>
                    <a:ext cx="692125" cy="1134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07" name="Google Shape;107;p1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6599275" y="3679375"/>
                    <a:ext cx="1375225" cy="1523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08" name="Google Shape;108;p17"/>
                <p:cNvGrpSpPr/>
                <p:nvPr/>
              </p:nvGrpSpPr>
              <p:grpSpPr>
                <a:xfrm>
                  <a:off x="1834800" y="2943838"/>
                  <a:ext cx="5115900" cy="1376100"/>
                  <a:chOff x="1348275" y="2954250"/>
                  <a:chExt cx="5115900" cy="1376100"/>
                </a:xfrm>
              </p:grpSpPr>
              <p:cxnSp>
                <p:nvCxnSpPr>
                  <p:cNvPr id="109" name="Google Shape;109;p17"/>
                  <p:cNvCxnSpPr/>
                  <p:nvPr/>
                </p:nvCxnSpPr>
                <p:spPr>
                  <a:xfrm>
                    <a:off x="3914175" y="4330350"/>
                    <a:ext cx="2550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110" name="Google Shape;110;p17"/>
                  <p:cNvCxnSpPr/>
                  <p:nvPr/>
                </p:nvCxnSpPr>
                <p:spPr>
                  <a:xfrm>
                    <a:off x="1348275" y="3641850"/>
                    <a:ext cx="25713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med" w="med" type="oval"/>
                    <a:tailEnd len="sm" w="sm" type="none"/>
                  </a:ln>
                </p:spPr>
              </p:cxnSp>
              <p:cxnSp>
                <p:nvCxnSpPr>
                  <p:cNvPr id="111" name="Google Shape;111;p17"/>
                  <p:cNvCxnSpPr/>
                  <p:nvPr/>
                </p:nvCxnSpPr>
                <p:spPr>
                  <a:xfrm>
                    <a:off x="3914175" y="2954250"/>
                    <a:ext cx="25461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</p:grpSp>
          </p:grpSp>
          <p:grpSp>
            <p:nvGrpSpPr>
              <p:cNvPr id="112" name="Google Shape;112;p17"/>
              <p:cNvGrpSpPr/>
              <p:nvPr/>
            </p:nvGrpSpPr>
            <p:grpSpPr>
              <a:xfrm>
                <a:off x="1271425" y="4579600"/>
                <a:ext cx="5987225" cy="389700"/>
                <a:chOff x="1271425" y="4579600"/>
                <a:chExt cx="5987225" cy="389700"/>
              </a:xfrm>
            </p:grpSpPr>
            <p:cxnSp>
              <p:nvCxnSpPr>
                <p:cNvPr id="113" name="Google Shape;113;p17"/>
                <p:cNvCxnSpPr/>
                <p:nvPr/>
              </p:nvCxnSpPr>
              <p:spPr>
                <a:xfrm>
                  <a:off x="1659475" y="4646500"/>
                  <a:ext cx="25671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dash"/>
                  <a:round/>
                  <a:headEnd len="med" w="med" type="oval"/>
                  <a:tailEnd len="sm" w="sm" type="none"/>
                </a:ln>
              </p:spPr>
            </p:cxnSp>
            <p:cxnSp>
              <p:nvCxnSpPr>
                <p:cNvPr id="114" name="Google Shape;114;p17"/>
                <p:cNvCxnSpPr/>
                <p:nvPr/>
              </p:nvCxnSpPr>
              <p:spPr>
                <a:xfrm>
                  <a:off x="4226463" y="4646512"/>
                  <a:ext cx="2551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dash"/>
                  <a:round/>
                  <a:headEnd len="med" w="med" type="oval"/>
                  <a:tailEnd len="med" w="med" type="oval"/>
                </a:ln>
              </p:spPr>
            </p:cxnSp>
            <p:sp>
              <p:nvSpPr>
                <p:cNvPr id="115" name="Google Shape;115;p17"/>
                <p:cNvSpPr txBox="1"/>
                <p:nvPr/>
              </p:nvSpPr>
              <p:spPr>
                <a:xfrm>
                  <a:off x="1271425" y="4579600"/>
                  <a:ext cx="1164000" cy="38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GB" sz="1800" u="none" cap="none" strike="noStrike">
                      <a:solidFill>
                        <a:schemeClr val="lt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Week 0</a:t>
                  </a:r>
                  <a:endParaRPr b="0" i="0" sz="1800" u="none" cap="none" strike="noStrik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" name="Google Shape;116;p17"/>
                <p:cNvSpPr txBox="1"/>
                <p:nvPr/>
              </p:nvSpPr>
              <p:spPr>
                <a:xfrm>
                  <a:off x="3786025" y="4579600"/>
                  <a:ext cx="1375200" cy="38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GB" sz="1800" u="none" cap="none" strike="noStrike">
                      <a:solidFill>
                        <a:schemeClr val="lt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Week 12</a:t>
                  </a:r>
                  <a:endParaRPr b="0" i="0" sz="1800" u="none" cap="none" strike="noStrik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" name="Google Shape;117;p17"/>
                <p:cNvSpPr txBox="1"/>
                <p:nvPr/>
              </p:nvSpPr>
              <p:spPr>
                <a:xfrm>
                  <a:off x="5967750" y="4579600"/>
                  <a:ext cx="1290900" cy="389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GB" sz="1800" u="none" cap="none" strike="noStrike">
                      <a:solidFill>
                        <a:schemeClr val="lt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Week 24</a:t>
                  </a:r>
                  <a:endParaRPr b="0" i="0" sz="1800" u="none" cap="none" strike="noStrike">
                    <a:solidFill>
                      <a:schemeClr val="l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id="118" name="Google Shape;118;p17"/>
          <p:cNvPicPr preferRelativeResize="0"/>
          <p:nvPr/>
        </p:nvPicPr>
        <p:blipFill rotWithShape="1">
          <a:blip r:embed="rId5">
            <a:alphaModFix/>
          </a:blip>
          <a:srcRect b="-3316" l="0" r="0" t="0"/>
          <a:stretch/>
        </p:blipFill>
        <p:spPr>
          <a:xfrm>
            <a:off x="5827100" y="80925"/>
            <a:ext cx="3235375" cy="90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6002838" y="861725"/>
            <a:ext cx="28839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https://www.nature.com/articles/s42255-021-00458-9</a:t>
            </a:r>
            <a:endParaRPr b="0" i="0" sz="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159550" y="167200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The Upstream Pipeline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311700" y="744300"/>
            <a:ext cx="8520600" cy="3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-GB">
                <a:solidFill>
                  <a:srgbClr val="434343"/>
                </a:solidFill>
              </a:rPr>
              <a:t>A series of automated, sequential steps for processing and analysing biological data, ensuring efficient and reproducible workflows.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66700" y="1572025"/>
            <a:ext cx="1457400" cy="623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(Count Table)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18"/>
          <p:cNvCxnSpPr>
            <a:endCxn id="128" idx="1"/>
          </p:cNvCxnSpPr>
          <p:nvPr/>
        </p:nvCxnSpPr>
        <p:spPr>
          <a:xfrm>
            <a:off x="2024100" y="1883725"/>
            <a:ext cx="752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p18"/>
          <p:cNvCxnSpPr>
            <a:stCxn id="128" idx="3"/>
            <a:endCxn id="130" idx="1"/>
          </p:cNvCxnSpPr>
          <p:nvPr/>
        </p:nvCxnSpPr>
        <p:spPr>
          <a:xfrm>
            <a:off x="4233900" y="1883725"/>
            <a:ext cx="752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18"/>
          <p:cNvCxnSpPr>
            <a:stCxn id="130" idx="3"/>
            <a:endCxn id="132" idx="1"/>
          </p:cNvCxnSpPr>
          <p:nvPr/>
        </p:nvCxnSpPr>
        <p:spPr>
          <a:xfrm>
            <a:off x="6443700" y="1883725"/>
            <a:ext cx="676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18"/>
          <p:cNvCxnSpPr>
            <a:stCxn id="132" idx="2"/>
            <a:endCxn id="134" idx="0"/>
          </p:cNvCxnSpPr>
          <p:nvPr/>
        </p:nvCxnSpPr>
        <p:spPr>
          <a:xfrm>
            <a:off x="7848600" y="2195425"/>
            <a:ext cx="0" cy="57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p18"/>
          <p:cNvCxnSpPr>
            <a:stCxn id="134" idx="1"/>
            <a:endCxn id="136" idx="3"/>
          </p:cNvCxnSpPr>
          <p:nvPr/>
        </p:nvCxnSpPr>
        <p:spPr>
          <a:xfrm rot="10800000">
            <a:off x="6443700" y="3083875"/>
            <a:ext cx="676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p18"/>
          <p:cNvCxnSpPr>
            <a:stCxn id="136" idx="1"/>
            <a:endCxn id="138" idx="3"/>
          </p:cNvCxnSpPr>
          <p:nvPr/>
        </p:nvCxnSpPr>
        <p:spPr>
          <a:xfrm rot="10800000">
            <a:off x="4233900" y="3083875"/>
            <a:ext cx="752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18"/>
          <p:cNvCxnSpPr>
            <a:endCxn id="140" idx="3"/>
          </p:cNvCxnSpPr>
          <p:nvPr/>
        </p:nvCxnSpPr>
        <p:spPr>
          <a:xfrm rot="10800000">
            <a:off x="2024100" y="3083875"/>
            <a:ext cx="752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1" name="Google Shape;141;p18"/>
          <p:cNvCxnSpPr/>
          <p:nvPr/>
        </p:nvCxnSpPr>
        <p:spPr>
          <a:xfrm>
            <a:off x="2024100" y="4245925"/>
            <a:ext cx="752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18"/>
          <p:cNvSpPr txBox="1"/>
          <p:nvPr/>
        </p:nvSpPr>
        <p:spPr>
          <a:xfrm>
            <a:off x="6044800" y="3799375"/>
            <a:ext cx="16029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Annotated data table ✅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7510" l="0" r="0" t="0"/>
          <a:stretch/>
        </p:blipFill>
        <p:spPr>
          <a:xfrm>
            <a:off x="8472675" y="110475"/>
            <a:ext cx="516676" cy="523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 - scverse/scanpy: Single-cell analysis in Python. Scales to &gt;1M  cells.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6750" y="70241"/>
            <a:ext cx="1371598" cy="6043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8"/>
          <p:cNvGrpSpPr/>
          <p:nvPr/>
        </p:nvGrpSpPr>
        <p:grpSpPr>
          <a:xfrm>
            <a:off x="566700" y="1572025"/>
            <a:ext cx="8010600" cy="2985600"/>
            <a:chOff x="566700" y="1572025"/>
            <a:chExt cx="8010600" cy="2985600"/>
          </a:xfrm>
        </p:grpSpPr>
        <p:sp>
          <p:nvSpPr>
            <p:cNvPr id="128" name="Google Shape;128;p18"/>
            <p:cNvSpPr/>
            <p:nvPr/>
          </p:nvSpPr>
          <p:spPr>
            <a:xfrm>
              <a:off x="2776500" y="157202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Cleaning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4986300" y="157202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Quality Control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119900" y="157202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Doublet Removal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119900" y="277217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Normalisation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4986300" y="277217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Feature Selection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2776500" y="277217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566700" y="277217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kNN/UMAP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566700" y="393422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Clustering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2776500" y="3934225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Cell Annotation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8" name="Google Shape;148;p18"/>
          <p:cNvCxnSpPr>
            <a:stCxn id="140" idx="2"/>
            <a:endCxn id="146" idx="0"/>
          </p:cNvCxnSpPr>
          <p:nvPr/>
        </p:nvCxnSpPr>
        <p:spPr>
          <a:xfrm>
            <a:off x="1295400" y="3395575"/>
            <a:ext cx="0" cy="53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37562" t="0"/>
          <a:stretch/>
        </p:blipFill>
        <p:spPr>
          <a:xfrm>
            <a:off x="4490300" y="3501262"/>
            <a:ext cx="1554500" cy="159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3" y="903225"/>
            <a:ext cx="4593615" cy="29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862" y="903225"/>
            <a:ext cx="4422825" cy="294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title"/>
          </p:nvPr>
        </p:nvSpPr>
        <p:spPr>
          <a:xfrm>
            <a:off x="130000" y="0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900"/>
              <a:t>Annotated dataset</a:t>
            </a:r>
            <a:endParaRPr sz="3900"/>
          </a:p>
        </p:txBody>
      </p:sp>
      <p:sp>
        <p:nvSpPr>
          <p:cNvPr id="157" name="Google Shape;157;p19"/>
          <p:cNvSpPr txBox="1"/>
          <p:nvPr/>
        </p:nvSpPr>
        <p:spPr>
          <a:xfrm>
            <a:off x="130500" y="3946300"/>
            <a:ext cx="88830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-"/>
            </a:pPr>
            <a:r>
              <a:rPr lang="en-GB"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27,419 cells (13,363 Control Diet, 14,056 High-fat high-sugar Diet)</a:t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-"/>
            </a:pPr>
            <a:r>
              <a:rPr lang="en-GB"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6 main cell types, with respective progenitor cell types.</a:t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311700" y="-783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Cell Type Proportions</a:t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163" y="545050"/>
            <a:ext cx="6920922" cy="459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159550" y="167200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The Downstream Pipeline</a:t>
            </a:r>
            <a:endParaRPr/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8600" y="93825"/>
            <a:ext cx="576901" cy="576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1"/>
          <p:cNvGrpSpPr/>
          <p:nvPr/>
        </p:nvGrpSpPr>
        <p:grpSpPr>
          <a:xfrm>
            <a:off x="726813" y="1408050"/>
            <a:ext cx="7690375" cy="1870200"/>
            <a:chOff x="335550" y="1636650"/>
            <a:chExt cx="7690375" cy="1870200"/>
          </a:xfrm>
        </p:grpSpPr>
        <p:sp>
          <p:nvSpPr>
            <p:cNvPr id="171" name="Google Shape;171;p21"/>
            <p:cNvSpPr/>
            <p:nvPr/>
          </p:nvSpPr>
          <p:spPr>
            <a:xfrm>
              <a:off x="335550" y="2260050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Annotated Data Table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2397838" y="2260050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DGE Analysis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1"/>
            <p:cNvSpPr/>
            <p:nvPr/>
          </p:nvSpPr>
          <p:spPr>
            <a:xfrm>
              <a:off x="4460125" y="1636650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/>
                <a:t>GO</a:t>
              </a: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/>
                <a:t>Enrichment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1"/>
            <p:cNvSpPr/>
            <p:nvPr/>
          </p:nvSpPr>
          <p:spPr>
            <a:xfrm>
              <a:off x="6509725" y="1636650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 Enrichment </a:t>
              </a:r>
              <a:r>
                <a:rPr lang="en-GB"/>
                <a:t>Visualisation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4460125" y="2883450"/>
              <a:ext cx="14574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KEGG Enrichment </a:t>
              </a:r>
              <a:r>
                <a:rPr lang="en-GB"/>
                <a:t>Analysis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6450925" y="2883450"/>
              <a:ext cx="1575000" cy="6234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/>
                <a:t>Further </a:t>
              </a: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KEGG Pathway Analysis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7" name="Google Shape;177;p21"/>
          <p:cNvCxnSpPr>
            <a:stCxn id="171" idx="3"/>
            <a:endCxn id="172" idx="1"/>
          </p:cNvCxnSpPr>
          <p:nvPr/>
        </p:nvCxnSpPr>
        <p:spPr>
          <a:xfrm>
            <a:off x="2184213" y="2343150"/>
            <a:ext cx="604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p21"/>
          <p:cNvCxnSpPr>
            <a:stCxn id="172" idx="3"/>
            <a:endCxn id="173" idx="1"/>
          </p:cNvCxnSpPr>
          <p:nvPr/>
        </p:nvCxnSpPr>
        <p:spPr>
          <a:xfrm flipH="1" rot="10800000">
            <a:off x="4246501" y="1719750"/>
            <a:ext cx="604800" cy="62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21"/>
          <p:cNvCxnSpPr>
            <a:stCxn id="172" idx="3"/>
            <a:endCxn id="175" idx="1"/>
          </p:cNvCxnSpPr>
          <p:nvPr/>
        </p:nvCxnSpPr>
        <p:spPr>
          <a:xfrm>
            <a:off x="4246501" y="2343150"/>
            <a:ext cx="604800" cy="62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21"/>
          <p:cNvCxnSpPr>
            <a:stCxn id="173" idx="3"/>
            <a:endCxn id="174" idx="1"/>
          </p:cNvCxnSpPr>
          <p:nvPr/>
        </p:nvCxnSpPr>
        <p:spPr>
          <a:xfrm>
            <a:off x="6308788" y="1719750"/>
            <a:ext cx="592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21"/>
          <p:cNvCxnSpPr>
            <a:stCxn id="175" idx="3"/>
            <a:endCxn id="176" idx="1"/>
          </p:cNvCxnSpPr>
          <p:nvPr/>
        </p:nvCxnSpPr>
        <p:spPr>
          <a:xfrm>
            <a:off x="6308788" y="2966550"/>
            <a:ext cx="533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Ensuring Reproducible Transcriptomic Analysis with DESeq2 and tximeta -  Chan Zuckerberg Initiative" id="182" name="Google Shape;18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5200" y="44500"/>
            <a:ext cx="576900" cy="67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529000" y="3894575"/>
            <a:ext cx="77817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Abbreviations:</a:t>
            </a:r>
            <a:endParaRPr u="sng"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DGE: Differential Gene Expression</a:t>
            </a:r>
            <a:endParaRPr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GO: Gene Ontology</a:t>
            </a:r>
            <a:endParaRPr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KEGG: Kyoto Encyclopedia of Genes and Genomes</a:t>
            </a:r>
            <a:endParaRPr>
              <a:solidFill>
                <a:srgbClr val="43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11700" y="-558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 Set Enrichment - Gene Ontology</a:t>
            </a:r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89017"/>
            <a:ext cx="8520599" cy="4575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700" y="607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 Enrichment - What did we find?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311700" y="872050"/>
            <a:ext cx="85206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Intestinal Stem Cells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lang="en-GB">
                <a:solidFill>
                  <a:srgbClr val="6AA84F"/>
                </a:solidFill>
              </a:rPr>
              <a:t> </a:t>
            </a:r>
            <a:r>
              <a:rPr lang="en-GB">
                <a:solidFill>
                  <a:srgbClr val="434343"/>
                </a:solidFill>
              </a:rPr>
              <a:t>C</a:t>
            </a:r>
            <a:r>
              <a:rPr lang="en-GB">
                <a:solidFill>
                  <a:srgbClr val="434343"/>
                </a:solidFill>
              </a:rPr>
              <a:t>ell cycle, chromosome dynamics, and DNA replication processes across biological processes, cellular components, and molecular functions.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b="1" lang="en-GB">
                <a:solidFill>
                  <a:srgbClr val="434343"/>
                </a:solidFill>
              </a:rPr>
              <a:t> </a:t>
            </a:r>
            <a:r>
              <a:rPr lang="en-GB">
                <a:solidFill>
                  <a:srgbClr val="434343"/>
                </a:solidFill>
              </a:rPr>
              <a:t>M</a:t>
            </a:r>
            <a:r>
              <a:rPr lang="en-GB">
                <a:solidFill>
                  <a:srgbClr val="434343"/>
                </a:solidFill>
              </a:rPr>
              <a:t>itochondrial function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b="1" lang="en-GB">
                <a:solidFill>
                  <a:srgbClr val="CC0000"/>
                </a:solidFill>
              </a:rPr>
              <a:t>↓</a:t>
            </a:r>
            <a:r>
              <a:rPr b="1" lang="en-GB">
                <a:solidFill>
                  <a:srgbClr val="434343"/>
                </a:solidFill>
              </a:rPr>
              <a:t> </a:t>
            </a:r>
            <a:r>
              <a:rPr lang="en-GB">
                <a:solidFill>
                  <a:srgbClr val="434343"/>
                </a:solidFill>
              </a:rPr>
              <a:t>Adherens junctions</a:t>
            </a:r>
            <a:r>
              <a:rPr lang="en-GB">
                <a:solidFill>
                  <a:srgbClr val="434343"/>
                </a:solidFill>
              </a:rPr>
              <a:t> (paracellular barrier)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</a:rPr>
              <a:t>Enterocytes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lang="en-GB">
                <a:solidFill>
                  <a:srgbClr val="6AA84F"/>
                </a:solidFill>
              </a:rPr>
              <a:t> </a:t>
            </a:r>
            <a:r>
              <a:rPr lang="en-GB">
                <a:solidFill>
                  <a:srgbClr val="434343"/>
                </a:solidFill>
              </a:rPr>
              <a:t>lipid metabolism processes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b="1" lang="en-GB">
                <a:solidFill>
                  <a:srgbClr val="CC0000"/>
                </a:solidFill>
              </a:rPr>
              <a:t>↓</a:t>
            </a:r>
            <a:r>
              <a:rPr lang="en-GB">
                <a:solidFill>
                  <a:srgbClr val="CC0000"/>
                </a:solidFill>
              </a:rPr>
              <a:t> </a:t>
            </a:r>
            <a:r>
              <a:rPr lang="en-GB">
                <a:solidFill>
                  <a:srgbClr val="434343"/>
                </a:solidFill>
              </a:rPr>
              <a:t>cell adhesion and signalling</a:t>
            </a:r>
            <a:r>
              <a:rPr lang="en-GB">
                <a:solidFill>
                  <a:srgbClr val="434343"/>
                </a:solidFill>
              </a:rPr>
              <a:t> (paracellular barrier)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b="1" lang="en-GB">
                <a:solidFill>
                  <a:srgbClr val="CC0000"/>
                </a:solidFill>
              </a:rPr>
              <a:t>↓</a:t>
            </a:r>
            <a:r>
              <a:rPr lang="en-GB">
                <a:solidFill>
                  <a:srgbClr val="CC0000"/>
                </a:solidFill>
              </a:rPr>
              <a:t> </a:t>
            </a:r>
            <a:r>
              <a:rPr lang="en-GB">
                <a:solidFill>
                  <a:srgbClr val="434343"/>
                </a:solidFill>
              </a:rPr>
              <a:t>calcium-dependent protein binding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311700" y="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 Set Enrichment</a:t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6350"/>
            <a:ext cx="9144003" cy="365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311700" y="17160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KEGG Enrichment - What did we find?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311700" y="923750"/>
            <a:ext cx="8520600" cy="3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Intestinal Stem Cells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lang="en-GB">
                <a:solidFill>
                  <a:srgbClr val="6AA84F"/>
                </a:solidFill>
              </a:rPr>
              <a:t> </a:t>
            </a:r>
            <a:r>
              <a:rPr lang="en-GB"/>
              <a:t>Cell Cycle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CC0000"/>
                </a:solidFill>
              </a:rPr>
              <a:t>↓</a:t>
            </a:r>
            <a:r>
              <a:rPr b="1" lang="en-GB">
                <a:solidFill>
                  <a:srgbClr val="434343"/>
                </a:solidFill>
              </a:rPr>
              <a:t> </a:t>
            </a:r>
            <a:r>
              <a:rPr lang="en-GB"/>
              <a:t>C</a:t>
            </a:r>
            <a:r>
              <a:rPr lang="en-GB"/>
              <a:t>ell adhesion molecules pathway (Paracellular Junction)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lang="en-GB">
                <a:solidFill>
                  <a:srgbClr val="6AA84F"/>
                </a:solidFill>
              </a:rPr>
              <a:t> </a:t>
            </a:r>
            <a:r>
              <a:rPr lang="en-GB"/>
              <a:t>F</a:t>
            </a:r>
            <a:r>
              <a:rPr lang="en-GB"/>
              <a:t>atty acid metabolism pathway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Enterocytes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CC0000"/>
                </a:solidFill>
              </a:rPr>
              <a:t>↓</a:t>
            </a:r>
            <a:r>
              <a:rPr b="1" lang="en-GB">
                <a:solidFill>
                  <a:srgbClr val="434343"/>
                </a:solidFill>
              </a:rPr>
              <a:t> </a:t>
            </a:r>
            <a:r>
              <a:rPr lang="en-GB"/>
              <a:t>Carbohydrate Digestion and absorption</a:t>
            </a:r>
            <a:endParaRPr b="1"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lang="en-GB">
                <a:solidFill>
                  <a:srgbClr val="6AA84F"/>
                </a:solidFill>
              </a:rPr>
              <a:t> </a:t>
            </a:r>
            <a:r>
              <a:rPr lang="en-GB"/>
              <a:t>Lipid metabolism and digestion pathways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lang="en-GB">
                <a:solidFill>
                  <a:srgbClr val="6AA84F"/>
                </a:solidFill>
              </a:rPr>
              <a:t> </a:t>
            </a:r>
            <a:r>
              <a:rPr lang="en-GB"/>
              <a:t>P</a:t>
            </a:r>
            <a:r>
              <a:rPr lang="en-GB"/>
              <a:t>rotein processing in the endoplasmic reticulum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>
                <a:solidFill>
                  <a:srgbClr val="6AA84F"/>
                </a:solidFill>
              </a:rPr>
              <a:t>↑</a:t>
            </a:r>
            <a:r>
              <a:rPr lang="en-GB">
                <a:solidFill>
                  <a:srgbClr val="6AA84F"/>
                </a:solidFill>
              </a:rPr>
              <a:t> </a:t>
            </a:r>
            <a:r>
              <a:rPr lang="en-GB"/>
              <a:t>Proteasome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311700" y="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00"/>
              <a:t>HFHSD alters macronutrient metabolism in the IE layer</a:t>
            </a:r>
            <a:endParaRPr sz="2500"/>
          </a:p>
        </p:txBody>
      </p:sp>
      <p:pic>
        <p:nvPicPr>
          <p:cNvPr id="213" name="Google Shape;213;p26"/>
          <p:cNvPicPr preferRelativeResize="0"/>
          <p:nvPr/>
        </p:nvPicPr>
        <p:blipFill rotWithShape="1">
          <a:blip r:embed="rId3">
            <a:alphaModFix/>
          </a:blip>
          <a:srcRect b="0" l="1560" r="-1560" t="0"/>
          <a:stretch/>
        </p:blipFill>
        <p:spPr>
          <a:xfrm>
            <a:off x="172004" y="646714"/>
            <a:ext cx="6671595" cy="425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6"/>
          <p:cNvSpPr txBox="1"/>
          <p:nvPr/>
        </p:nvSpPr>
        <p:spPr>
          <a:xfrm>
            <a:off x="6784100" y="716850"/>
            <a:ext cx="2261400" cy="4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-"/>
            </a:pPr>
            <a:r>
              <a:rPr b="1"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Srebp1-c</a:t>
            </a: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transcriptional regulator is upregulated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Source Sans Pro"/>
              <a:buChar char="-"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Involved in </a:t>
            </a:r>
            <a:r>
              <a:rPr lang="en-GB" sz="1800" u="sng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lipid metabolism</a:t>
            </a: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and </a:t>
            </a:r>
            <a:r>
              <a:rPr lang="en-GB" sz="1800" u="sng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glycolysis</a:t>
            </a:r>
            <a:endParaRPr sz="1800" u="sng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348600" y="0"/>
            <a:ext cx="84468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Carbohydrate / Fatty Acid Metabolism alterations</a:t>
            </a:r>
            <a:endParaRPr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50" y="1186453"/>
            <a:ext cx="4471749" cy="379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074" y="1180438"/>
            <a:ext cx="4233101" cy="3802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/>
        </p:nvSpPr>
        <p:spPr>
          <a:xfrm>
            <a:off x="1187275" y="657425"/>
            <a:ext cx="68286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-"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Enterocytes shift from carbohydrate utilisation to lipid utilisation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228150" y="60700"/>
            <a:ext cx="8687700" cy="9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500"/>
              <a:t>HFHSD induces hyperproliferation through upregulation of the cell cycle.</a:t>
            </a:r>
            <a:endParaRPr sz="2500"/>
          </a:p>
        </p:txBody>
      </p:sp>
      <p:pic>
        <p:nvPicPr>
          <p:cNvPr id="228" name="Google Shape;228;p28"/>
          <p:cNvPicPr preferRelativeResize="0"/>
          <p:nvPr/>
        </p:nvPicPr>
        <p:blipFill rotWithShape="1">
          <a:blip r:embed="rId3">
            <a:alphaModFix/>
          </a:blip>
          <a:srcRect b="0" l="0" r="0" t="52417"/>
          <a:stretch/>
        </p:blipFill>
        <p:spPr>
          <a:xfrm>
            <a:off x="505237" y="939725"/>
            <a:ext cx="8133523" cy="420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311700" y="16420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Barrier Permeability &amp; </a:t>
            </a:r>
            <a:r>
              <a:rPr lang="en-GB"/>
              <a:t>Inflammation</a:t>
            </a:r>
            <a:endParaRPr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311700" y="1188375"/>
            <a:ext cx="45651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-"/>
            </a:pPr>
            <a:r>
              <a:rPr lang="en-GB" sz="1300">
                <a:solidFill>
                  <a:srgbClr val="434343"/>
                </a:solidFill>
              </a:rPr>
              <a:t>Systemic inflammation in prediabetes is characterised by elevated levels of inflammatory markers and alterations in immune function</a:t>
            </a:r>
            <a:endParaRPr sz="1300">
              <a:solidFill>
                <a:srgbClr val="434343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300"/>
              <a:buChar char="-"/>
            </a:pPr>
            <a:r>
              <a:rPr lang="en-GB" sz="1300">
                <a:solidFill>
                  <a:srgbClr val="434343"/>
                </a:solidFill>
              </a:rPr>
              <a:t>Inflammation during the prediabetic state seems to be a driving force behind pancreatic beta cell dysfunction, insulin resistance, dyslipidemia, and cardiovascular diseases and is a risk factor for peripheral vascular diseases</a:t>
            </a:r>
            <a:endParaRPr sz="1300">
              <a:solidFill>
                <a:srgbClr val="434343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300"/>
              <a:buChar char="-"/>
            </a:pPr>
            <a:r>
              <a:rPr lang="en-GB" sz="1300">
                <a:solidFill>
                  <a:srgbClr val="434343"/>
                </a:solidFill>
              </a:rPr>
              <a:t>Emerging evidence is linking ‘leaky gut’ to inflammation, we decided to test this hypothesis in an attempt to clarify conflicts in the literature.</a:t>
            </a:r>
            <a:endParaRPr sz="1300">
              <a:solidFill>
                <a:srgbClr val="434343"/>
              </a:solidFill>
            </a:endParaRPr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000" y="721348"/>
            <a:ext cx="3753576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311700" y="533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Intestinal Barrier Integrity</a:t>
            </a:r>
            <a:endParaRPr/>
          </a:p>
        </p:txBody>
      </p:sp>
      <p:pic>
        <p:nvPicPr>
          <p:cNvPr id="241" name="Google Shape;2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75" y="537500"/>
            <a:ext cx="7763845" cy="460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1"/>
          <p:cNvPicPr preferRelativeResize="0"/>
          <p:nvPr/>
        </p:nvPicPr>
        <p:blipFill rotWithShape="1">
          <a:blip r:embed="rId3">
            <a:alphaModFix/>
          </a:blip>
          <a:srcRect b="0" l="0" r="0" t="52419"/>
          <a:stretch/>
        </p:blipFill>
        <p:spPr>
          <a:xfrm>
            <a:off x="0" y="1071550"/>
            <a:ext cx="9144001" cy="379527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>
            <p:ph type="title"/>
          </p:nvPr>
        </p:nvSpPr>
        <p:spPr>
          <a:xfrm>
            <a:off x="311700" y="681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Inflammation</a:t>
            </a:r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2114850" y="549575"/>
            <a:ext cx="4914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-"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Detection of inflammation was </a:t>
            </a:r>
            <a:r>
              <a:rPr lang="en-GB" sz="1800" u="sng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inconclusive</a:t>
            </a:r>
            <a:endParaRPr sz="1800" u="sng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311700" y="681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Inflammation</a:t>
            </a:r>
            <a:endParaRPr/>
          </a:p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3">
            <a:alphaModFix/>
          </a:blip>
          <a:srcRect b="47351" l="0" r="0" t="0"/>
          <a:stretch/>
        </p:blipFill>
        <p:spPr>
          <a:xfrm>
            <a:off x="0" y="944125"/>
            <a:ext cx="9144001" cy="4199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/>
          <p:nvPr/>
        </p:nvSpPr>
        <p:spPr>
          <a:xfrm>
            <a:off x="2114850" y="549575"/>
            <a:ext cx="4914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-"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Detection of inflammation was </a:t>
            </a:r>
            <a:r>
              <a:rPr lang="en-GB" sz="1800" u="sng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inconclusive</a:t>
            </a:r>
            <a:endParaRPr sz="1800" u="sng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7021775" y="0"/>
            <a:ext cx="19251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 Stress</a:t>
            </a:r>
            <a:endParaRPr/>
          </a:p>
        </p:txBody>
      </p:sp>
      <p:pic>
        <p:nvPicPr>
          <p:cNvPr id="261" name="Google Shape;2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25" y="88350"/>
            <a:ext cx="6899924" cy="487753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/>
        </p:nvSpPr>
        <p:spPr>
          <a:xfrm>
            <a:off x="6976250" y="517300"/>
            <a:ext cx="2167800" cy="4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ER stress is induced by three pathways: </a:t>
            </a:r>
            <a:r>
              <a:rPr b="1"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PERK</a:t>
            </a: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</a:t>
            </a:r>
            <a:r>
              <a:rPr b="1"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ATF6</a:t>
            </a: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</a:t>
            </a:r>
            <a:r>
              <a:rPr b="1"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IRE1</a:t>
            </a:r>
            <a:endParaRPr b="1"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 detected an upregulation of the PERK pathway.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Widespread upregulation of ER Stress pathways.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Perhaps helps to correct impaired intestinal barrier.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474300" y="1293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572100" y="861675"/>
            <a:ext cx="3999900" cy="39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Intestinal Stem Cell - Cell Cycle is increased resulting in faster turnover of the IE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Enterocytes shift from carbohydrate utilisation to fat utilisation for energy.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Intestinal Barrier Integrity is impaired although there is no evidence to support that this leads to inflammation.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ER stress is induced by HFHSD perhaps to deal with </a:t>
            </a:r>
            <a:endParaRPr/>
          </a:p>
        </p:txBody>
      </p:sp>
      <p:grpSp>
        <p:nvGrpSpPr>
          <p:cNvPr id="269" name="Google Shape;269;p34"/>
          <p:cNvGrpSpPr/>
          <p:nvPr/>
        </p:nvGrpSpPr>
        <p:grpSpPr>
          <a:xfrm>
            <a:off x="5512800" y="129314"/>
            <a:ext cx="2318350" cy="4936336"/>
            <a:chOff x="5512800" y="129314"/>
            <a:chExt cx="2318350" cy="4936336"/>
          </a:xfrm>
        </p:grpSpPr>
        <p:pic>
          <p:nvPicPr>
            <p:cNvPr descr="Endoplasmic reticulum (ER) | Definition, Function, &amp; Location | Britannica" id="270" name="Google Shape;270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88625" y="3498925"/>
              <a:ext cx="1566725" cy="1566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12800" y="2173866"/>
              <a:ext cx="2318350" cy="1131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34"/>
            <p:cNvSpPr txBox="1"/>
            <p:nvPr/>
          </p:nvSpPr>
          <p:spPr>
            <a:xfrm>
              <a:off x="5962463" y="1588875"/>
              <a:ext cx="14190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2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Carbs → Fats</a:t>
              </a:r>
              <a:endPara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pic>
          <p:nvPicPr>
            <p:cNvPr id="273" name="Google Shape;273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14915" y="129314"/>
              <a:ext cx="2114100" cy="13326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3553050" y="1277150"/>
            <a:ext cx="20379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800" y="2350050"/>
            <a:ext cx="3379740" cy="161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versity College Cork, APC Microbiome - accelopment" id="280" name="Google Shape;2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9291" y="2293600"/>
            <a:ext cx="2988359" cy="17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